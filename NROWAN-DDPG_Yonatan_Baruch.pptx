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65" r:id="rId10"/>
    <p:sldId id="274" r:id="rId11"/>
    <p:sldId id="263" r:id="rId12"/>
    <p:sldId id="264" r:id="rId13"/>
    <p:sldId id="275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6667" autoAdjust="0"/>
  </p:normalViewPr>
  <p:slideViewPr>
    <p:cSldViewPr snapToGrid="0" snapToObjects="1">
      <p:cViewPr varScale="1">
        <p:scale>
          <a:sx n="80" d="100"/>
          <a:sy n="80" d="100"/>
        </p:scale>
        <p:origin x="6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65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began as an attempt to extend NROWAN to continuous control. It ended as a diagnosis of why that extension cannot work. This talk follows that path.</a:t>
            </a:r>
            <a:endParaRPr lang="he-IL" dirty="0"/>
          </a:p>
          <a:p>
            <a:r>
              <a:rPr lang="en-US" dirty="0"/>
              <a:t>Paper name: 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NROWAN-DQN: A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Stable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Noisy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Network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Reduction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Online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Adjustment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novelty is not the noise - that is NoisyNet. It is the deliberate, performance-gated removal of the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 A reaches sigma only if sigma took part in computing the action. Term B reads sigma directly and always. Keep that asymmetry in mind.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matters: we never claim a result we did not control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hyperparameters were never published by the paper; we reverse-engineered them from the works the authors say they build on. Details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density, not action-space continuity, turns out to be the variable that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also what the winning entries in the international competitions on this simulator do - they use topology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insight of the project. Everything after this slide is us testing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seasonal caveat: the dataset spans a year, and truncating episodes creates a periodic oscillation in reward. All methods were measured on the identical window, so the comparison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to land here: the isolated variant is nominally best, and the noise died anyway. The second point is what motivates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defect in the mechanism as published: it was designed before adaptive optimizers were the default, and it does not survive contact with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pattern appears in MountainCar: the seed that solved is the seed whose sigma collapsed. Consistent across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negative result as what it is: a mechanism-level explanation, backed by measurement, of when this family of methods can and cannot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to expect: why only three seeds; whether the baseline was fairly tuned; whether the isolated variant's edge is significant. Answers are on the limitations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ni2222/nrowan-ddp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A3A73"/>
          </a:solidFill>
          <a:ln w="12700">
            <a:solidFill>
              <a:srgbClr val="2A3A7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2743200" cy="2743200"/>
          </a:xfrm>
          <a:prstGeom prst="ellipse">
            <a:avLst/>
          </a:prstGeom>
          <a:solidFill>
            <a:srgbClr val="16204E"/>
          </a:solidFill>
          <a:ln w="12700">
            <a:solidFill>
              <a:srgbClr val="16204E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66928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Baruch Binyaminov &amp; Yonatan Ben Avraham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- Final Project,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Afeka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College of Engineering</a:t>
            </a:r>
            <a:endParaRPr lang="en-US" sz="13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20E8452-B3A5-AC2E-F749-8F257DB8FBB2}"/>
              </a:ext>
            </a:extLst>
          </p:cNvPr>
          <p:cNvSpPr/>
          <p:nvPr/>
        </p:nvSpPr>
        <p:spPr>
          <a:xfrm>
            <a:off x="1392174" y="305771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published exploration mechanism does not survive the move to continuous control</a:t>
            </a:r>
            <a:endParaRPr lang="en-US" sz="180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0D77D4DD-33F2-AC9D-57CA-1900C22DDDE2}"/>
              </a:ext>
            </a:extLst>
          </p:cNvPr>
          <p:cNvSpPr/>
          <p:nvPr/>
        </p:nvSpPr>
        <p:spPr>
          <a:xfrm>
            <a:off x="1504188" y="1519809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NROWAN-DQN: A Stable Noisy Network with Noise Reduction and Online Weight Adjustment for Exploration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Background: How Agents Explore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generations of exploration mechanisms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45643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841248" y="1691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84124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44168" y="16916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Dithering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224028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the ACTION.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picks a random action with probability ε.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the perturbation is uncorrelated across steps, so it averages out.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42816" y="1417320"/>
            <a:ext cx="345643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Shape 8"/>
          <p:cNvSpPr/>
          <p:nvPr/>
        </p:nvSpPr>
        <p:spPr>
          <a:xfrm>
            <a:off x="4517136" y="1691640"/>
            <a:ext cx="384048" cy="384048"/>
          </a:xfrm>
          <a:prstGeom prst="ellipse">
            <a:avLst/>
          </a:prstGeom>
          <a:solidFill>
            <a:srgbClr val="3D5A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4517136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0056" y="16916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D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NoisyNet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17136" y="224028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the WEIGHTS.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becomes μ + σ·ε with σ learned.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is state-dependent and consistent within an episode.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18704" y="1417320"/>
            <a:ext cx="345643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Shape 13"/>
          <p:cNvSpPr/>
          <p:nvPr/>
        </p:nvSpPr>
        <p:spPr>
          <a:xfrm>
            <a:off x="8193024" y="16916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8193024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95944" y="169164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NROWAN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93024" y="2240280"/>
            <a:ext cx="29077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Perturb, then anneal ON PURPOSE.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penalty D on σ, weighted by k, which rises as the agent's performance rises.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4444"/>
            </a:avLst>
          </a:prstGeom>
          <a:solidFill>
            <a:srgbClr val="FFF6E8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886968" y="5029200"/>
            <a:ext cx="10387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claim:  </a:t>
            </a: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NROWAN reaches higher scores AND is markedly more stable than both alternatives - because it removes exploration noise deliberately, once the agent is competent, instead of waiting for it to fade on its own.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NROWAN mechanism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terms in one loss - remember both, everything later turns on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2766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 loss   =   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term</a:t>
            </a:r>
            <a:r>
              <a:rPr lang="en-US" sz="3000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+   k · </a:t>
            </a: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3017520"/>
            <a:ext cx="536752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Shape 5"/>
          <p:cNvSpPr/>
          <p:nvPr/>
        </p:nvSpPr>
        <p:spPr>
          <a:xfrm>
            <a:off x="859536" y="32735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859536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327355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term - “act better”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3822192"/>
            <a:ext cx="4782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the critic's value of the action the actor produces.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by running the network forward - so the noise is inside the computation.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μ, the useful part of every weight.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27064" y="3017520"/>
            <a:ext cx="5367528" cy="2331720"/>
          </a:xfrm>
          <a:prstGeom prst="roundRect">
            <a:avLst>
              <a:gd name="adj" fmla="val 2353"/>
            </a:avLst>
          </a:prstGeom>
          <a:solidFill>
            <a:srgbClr val="FFFB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Shape 10"/>
          <p:cNvSpPr/>
          <p:nvPr/>
        </p:nvSpPr>
        <p:spPr>
          <a:xfrm>
            <a:off x="6519672" y="327355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6519672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50024" y="327355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Penalty D - “be quieter”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19672" y="3822192"/>
            <a:ext cx="47823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sum of |σ| over the output layer, divided by a constant.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σ values directly - no forward pass, no state, no critic.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rises with recent performance: explore early, settle late.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56235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terms can change σ. That turns out to be the whole story.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NROWAN was built for discrete actions. Does the idea transfer?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072725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86968" y="1783080"/>
            <a:ext cx="4411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came from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86968" y="2240280"/>
            <a:ext cx="44110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action spaces. The network scores each available action; the agent takes the highest. Choosing is a comparison, not a computation.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05068" y="2240280"/>
            <a:ext cx="457200" cy="411480"/>
          </a:xfrm>
          <a:prstGeom prst="rightArrow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Shape 6"/>
          <p:cNvSpPr/>
          <p:nvPr/>
        </p:nvSpPr>
        <p:spPr>
          <a:xfrm>
            <a:off x="6521867" y="1554480"/>
            <a:ext cx="5072725" cy="1828800"/>
          </a:xfrm>
          <a:prstGeom prst="roundRect">
            <a:avLst>
              <a:gd name="adj" fmla="val 3000"/>
            </a:avLst>
          </a:prstGeom>
          <a:solidFill>
            <a:srgbClr val="FFFB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7"/>
          <p:cNvSpPr/>
          <p:nvPr/>
        </p:nvSpPr>
        <p:spPr>
          <a:xfrm>
            <a:off x="6841907" y="1783080"/>
            <a:ext cx="4411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take it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41907" y="2240280"/>
            <a:ext cx="44110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 (DDPG). The network emits the action itself as a number. Choosing IS a computation the gradient flows through.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36576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experimental pipeline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259232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1671066" y="43159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671066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" y="4773168"/>
            <a:ext cx="2372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102352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our implementation against the paper's own discrete environments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23844" y="4114800"/>
            <a:ext cx="259232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Shape 16"/>
          <p:cNvSpPr/>
          <p:nvPr/>
        </p:nvSpPr>
        <p:spPr>
          <a:xfrm>
            <a:off x="4427982" y="4315968"/>
            <a:ext cx="384048" cy="384048"/>
          </a:xfrm>
          <a:prstGeom prst="ellipse">
            <a:avLst/>
          </a:prstGeom>
          <a:solidFill>
            <a:srgbClr val="3D5AA8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4427982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33572" y="4773168"/>
            <a:ext cx="2372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88436" y="5102352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to continuous control across environments of different reward density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0760" y="4114800"/>
            <a:ext cx="259232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Shape 21"/>
          <p:cNvSpPr/>
          <p:nvPr/>
        </p:nvSpPr>
        <p:spPr>
          <a:xfrm>
            <a:off x="7184898" y="431596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4" name="Text 22"/>
          <p:cNvSpPr/>
          <p:nvPr/>
        </p:nvSpPr>
        <p:spPr>
          <a:xfrm>
            <a:off x="7184898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90488" y="4773168"/>
            <a:ext cx="2372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45352" y="5102352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mechanism behind whatever we observe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37676" y="4114800"/>
            <a:ext cx="259232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8" name="Shape 26"/>
          <p:cNvSpPr/>
          <p:nvPr/>
        </p:nvSpPr>
        <p:spPr>
          <a:xfrm>
            <a:off x="9941814" y="431596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9941814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947404" y="4773168"/>
            <a:ext cx="2372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&amp; test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002268" y="5102352"/>
            <a:ext cx="22631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 and measure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1 - Reproduction succeeded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instances x 64 post-training evaluation rounds, exactly the paper's protocol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CartPole   (higher is better)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5788152" cy="15361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180.32 ± 20.74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170.49 ± 35.86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NoisyNet-DQN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174.46 ± 7.35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164.96 ± 31.56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NROWAN-DQN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191.72 ± 5.95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187.04 ± 13.99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263640" y="141732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Acrobot   (closer to zero is better)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788152" cy="15361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-100.61 ± 32.48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-87.24 ± 22.33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NoisyNet-DQN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-88.14 ± 53.07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-86.57 ± 29.32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NROWAN-DQN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-82.32 ± 19.69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-84.41 ± 15.58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3703320"/>
            <a:ext cx="1102766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5"/>
          <p:cNvSpPr/>
          <p:nvPr/>
        </p:nvSpPr>
        <p:spPr>
          <a:xfrm>
            <a:off x="886968" y="3858768"/>
            <a:ext cx="10387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reproduced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86968" y="4224528"/>
            <a:ext cx="1038758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rank order, in both environments - not merely similar numbers.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stability claim: NROWAN has the lowest standard deviation of the three, in both environments. In CartPole ours is 3.5x lower than the baseline (the paper reports 2.6x).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paper's own reported anomaly - in CartPole, NoisyNet falls BELOW plain DQN, because this environment punishes noisy actions.</a:t>
            </a:r>
            <a:endParaRPr lang="en-US" sz="1350" dirty="0"/>
          </a:p>
        </p:txBody>
      </p:sp>
      <p:sp>
        <p:nvSpPr>
          <p:cNvPr id="7" name="Text 7"/>
          <p:cNvSpPr/>
          <p:nvPr/>
        </p:nvSpPr>
        <p:spPr>
          <a:xfrm>
            <a:off x="566928" y="60533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is sound. Anything that follows is a property of the method, not a bug in our code.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2 - The transfer to continuous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environments, ordered by how dense the reward signal 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2592324" cy="29260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704088" y="1691640"/>
            <a:ext cx="2318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grid2op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04088" y="2048256"/>
            <a:ext cx="2318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transmission grid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296162" y="2560320"/>
            <a:ext cx="1133856" cy="310896"/>
          </a:xfrm>
          <a:prstGeom prst="roundRect">
            <a:avLst>
              <a:gd name="adj" fmla="val 14706"/>
            </a:avLst>
          </a:prstGeom>
          <a:solidFill>
            <a:srgbClr val="FCE9E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1296162" y="256032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2631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below a do-nothing policy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23844" y="1508760"/>
            <a:ext cx="2592324" cy="29260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3461004" y="1691640"/>
            <a:ext cx="2318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CityLearn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61004" y="2048256"/>
            <a:ext cx="2318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energy, 5 buildings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53078" y="2560320"/>
            <a:ext cx="1133856" cy="310896"/>
          </a:xfrm>
          <a:prstGeom prst="roundRect">
            <a:avLst>
              <a:gd name="adj" fmla="val 14706"/>
            </a:avLst>
          </a:prstGeom>
          <a:solidFill>
            <a:srgbClr val="FCE9E6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4053078" y="256032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88436" y="3063240"/>
            <a:ext cx="22631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tie, all three methods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592324" cy="29260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6217920" y="1691640"/>
            <a:ext cx="2318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PointMaze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048256"/>
            <a:ext cx="2318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in a maze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9994" y="2560320"/>
            <a:ext cx="1133856" cy="310896"/>
          </a:xfrm>
          <a:prstGeom prst="roundRect">
            <a:avLst>
              <a:gd name="adj" fmla="val 14706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6809994" y="256032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5352" y="3063240"/>
            <a:ext cx="22631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scored highest, but with overlapping variance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837676" y="1508760"/>
            <a:ext cx="2592324" cy="292608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8974836" y="1691640"/>
            <a:ext cx="23180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MountainCar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74836" y="2048256"/>
            <a:ext cx="23180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building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66910" y="2560320"/>
            <a:ext cx="1133856" cy="310896"/>
          </a:xfrm>
          <a:prstGeom prst="roundRect">
            <a:avLst>
              <a:gd name="adj" fmla="val 14706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6" name="Text 24"/>
          <p:cNvSpPr/>
          <p:nvPr/>
        </p:nvSpPr>
        <p:spPr>
          <a:xfrm>
            <a:off x="9566910" y="2560320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02268" y="3063240"/>
            <a:ext cx="22631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method that solves the task at all (1 of 3 seeds)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663440"/>
            <a:ext cx="11027664" cy="1417320"/>
          </a:xfrm>
          <a:prstGeom prst="roundRect">
            <a:avLst>
              <a:gd name="adj" fmla="val 3871"/>
            </a:avLst>
          </a:prstGeom>
          <a:solidFill>
            <a:srgbClr val="FFF6E8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9" name="Text 27"/>
          <p:cNvSpPr/>
          <p:nvPr/>
        </p:nvSpPr>
        <p:spPr>
          <a:xfrm>
            <a:off x="886968" y="4846320"/>
            <a:ext cx="10387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T</a:t>
            </a:r>
            <a:r>
              <a:rPr lang="en-US" sz="14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mechanism helps only where exploration is the bottleneck. Where the reward is dense - feedback at every timestep - it is at best irrelevant and at worst harmful. This is the thread that runs through everything that follows.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grid2op - The Wrong Lever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14-node transmission grid, 3 seeds, 2000-step episodes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4631619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86968" y="1645920"/>
            <a:ext cx="3969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environment fails on its own (in average)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2103120"/>
            <a:ext cx="3969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1,112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2743200"/>
            <a:ext cx="3969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 do-nothing policy survives, of 2,000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3154680"/>
            <a:ext cx="3969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grid blacks out. There is real headroom to win.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39653" y="1463040"/>
            <a:ext cx="5954939" cy="2148840"/>
          </a:xfrm>
          <a:prstGeom prst="roundRect">
            <a:avLst>
              <a:gd name="adj" fmla="val 2553"/>
            </a:avLst>
          </a:prstGeom>
          <a:solidFill>
            <a:srgbClr val="FFFB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959693" y="1645920"/>
            <a:ext cx="52932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blacks out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59693" y="2057400"/>
            <a:ext cx="52932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is overloaded and trips.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power reroutes onto the remaining lines and overloads them too.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 continues until the grid collapses.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method surpassed the do-nothing policy. Both survived fewer steps and caused more safety violations than taking no action at all.</a:t>
            </a:r>
          </a:p>
        </p:txBody>
      </p:sp>
      <p:sp>
        <p:nvSpPr>
          <p:cNvPr id="12" name="Shape 10"/>
          <p:cNvSpPr/>
          <p:nvPr/>
        </p:nvSpPr>
        <p:spPr>
          <a:xfrm>
            <a:off x="566928" y="3794760"/>
            <a:ext cx="1102766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886968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mismatch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6968" y="4279392"/>
            <a:ext cx="1038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effective defence is topology control - splitting buses, switching lines - which reroutes the flow. Those actions are DISCRETE. </a:t>
            </a:r>
            <a:r>
              <a:rPr lang="en-US" sz="135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gave the agent was continuous generator redispatch: indirect, limited to three generators, and penalized by the reward function itself.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6928" y="534924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does not match the failure mode cannot be rescued by better exploration. We moved to standard benchmarks where the mechanism can be isolated.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614476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scores from this environment predate a correctness fix in our noise implementation and are therefore not reported.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Porting the mechanism honestly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was written for discrete control. What we kept, what we had to change, and why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069841"/>
              </p:ext>
            </p:extLst>
          </p:nvPr>
        </p:nvGraphicFramePr>
        <p:xfrm>
          <a:off x="566928" y="1371600"/>
          <a:ext cx="11027664" cy="23164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paper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our continuous 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Penalty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|σ| over the output layer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</a:t>
                      </a:r>
                      <a:r>
                        <a:rPr lang="he-IL" sz="12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2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same formula, same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 layers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two fully-connected layers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k updates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step, from the running within-episode reward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Once per episode </a:t>
                      </a:r>
                      <a:r>
                        <a:rPr lang="he-IL" sz="1250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r>
                        <a:rPr lang="en-US" sz="1250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 DDPG episode is far longer, and a per-step k made the weight oscillate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k is normalized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Against reward bounds known in advance (eq. 12)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tasks: bounds [0,1] on the success indicator.  Grid / energy tasks: online min-max, because no reward bounds exist there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160520"/>
            <a:ext cx="5367528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859536" y="4343400"/>
            <a:ext cx="4782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 could not be copied verbatim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9536" y="4727448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12 normalizes performance against a reward range the experimenter knows beforehand. That range exists in a game with a fixed maximum score. It does not exist in a power grid or a building-energy simulator, so we substituted an online estimate there and stated it.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27064" y="4160520"/>
            <a:ext cx="5367528" cy="1600200"/>
          </a:xfrm>
          <a:prstGeom prst="roundRect">
            <a:avLst>
              <a:gd name="adj" fmla="val 3429"/>
            </a:avLst>
          </a:prstGeom>
          <a:solidFill>
            <a:srgbClr val="FFFB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6519672" y="4343400"/>
            <a:ext cx="4782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adaptation is itself a finding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19672" y="4727448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we could copy unchanged are the parts that describe the network. The parts we had to reinterpret are the parts that assume a bounded, episodic score. That assumption is exactly what a continuous control problem does not provide.</a:t>
            </a:r>
            <a:endParaRPr lang="en-US" sz="1300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5DF6A4E7-6A3B-721E-355E-F5698651DA48}"/>
              </a:ext>
            </a:extLst>
          </p:cNvPr>
          <p:cNvSpPr txBox="1"/>
          <p:nvPr/>
        </p:nvSpPr>
        <p:spPr>
          <a:xfrm>
            <a:off x="481584" y="5760720"/>
            <a:ext cx="11143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he-IL" sz="1200" dirty="0"/>
            </a:b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Each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environment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also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required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its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own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input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and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reward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preprocessing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en-US" sz="1200" b="0" i="0" dirty="0">
                <a:solidFill>
                  <a:srgbClr val="6D6B67"/>
                </a:solidFill>
                <a:effectLst/>
                <a:latin typeface="Anthropic Sans"/>
              </a:rPr>
              <a:t>-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observation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scaling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,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action-range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mapping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,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reward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clipping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.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All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of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it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was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applied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identically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to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every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method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compared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.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Full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details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in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the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 </a:t>
            </a:r>
            <a:r>
              <a:rPr lang="he-IL" sz="1200" b="0" i="0" dirty="0" err="1">
                <a:solidFill>
                  <a:srgbClr val="6D6B67"/>
                </a:solidFill>
                <a:effectLst/>
                <a:latin typeface="Anthropic Sans"/>
              </a:rPr>
              <a:t>report</a:t>
            </a:r>
            <a:r>
              <a:rPr lang="he-IL" sz="1200" b="0" i="0" dirty="0">
                <a:solidFill>
                  <a:srgbClr val="6D6B67"/>
                </a:solidFill>
                <a:effectLst/>
                <a:latin typeface="Anthropic Sans"/>
              </a:rPr>
              <a:t>.</a:t>
            </a:r>
            <a:endParaRPr lang="he-IL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Diagnosis: two paths lead to 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asks every parameter: how much did you affect the final loss? σ can answer twice.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30952" cy="2286000"/>
          </a:xfrm>
          <a:prstGeom prst="roundRect">
            <a:avLst>
              <a:gd name="adj" fmla="val 2400"/>
            </a:avLst>
          </a:prstGeom>
          <a:solidFill>
            <a:srgbClr val="2A3A73"/>
          </a:solidFill>
          <a:ln w="12700">
            <a:solidFill>
              <a:srgbClr val="3D5A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886968" y="1920240"/>
            <a:ext cx="384048" cy="384048"/>
          </a:xfrm>
          <a:prstGeom prst="ellipse">
            <a:avLst/>
          </a:prstGeom>
          <a:solidFill>
            <a:srgbClr val="4A6FD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88696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192024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the policy term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" y="246888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→  weight  →  action  →  critic value  →  loss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2880360"/>
            <a:ext cx="4690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chain, but a real one. Noise moves the action away from the optimum, so the value drops - and the cheapest way to raise the value is to switch the noise off.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30952" cy="2286000"/>
          </a:xfrm>
          <a:prstGeom prst="roundRect">
            <a:avLst>
              <a:gd name="adj" fmla="val 2400"/>
            </a:avLst>
          </a:prstGeom>
          <a:solidFill>
            <a:srgbClr val="5A4420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Shape 9"/>
          <p:cNvSpPr/>
          <p:nvPr/>
        </p:nvSpPr>
        <p:spPr>
          <a:xfrm>
            <a:off x="6583680" y="19202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192024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 the penalty 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→  loss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2880360"/>
            <a:ext cx="4690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chain at all. σ is not an ingredient of this computation - it IS the computation. There is no way to remove it without deleting the penalty.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251960"/>
            <a:ext cx="11027664" cy="1874520"/>
          </a:xfrm>
          <a:prstGeom prst="roundRect">
            <a:avLst>
              <a:gd name="adj" fmla="val 2927"/>
            </a:avLst>
          </a:prstGeom>
          <a:solidFill>
            <a:srgbClr val="16204E"/>
          </a:solidFill>
          <a:ln w="12700">
            <a:solidFill>
              <a:srgbClr val="3D5AA8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932688" y="4407408"/>
            <a:ext cx="10296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" y="4800600"/>
            <a:ext cx="102961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DISCRETE control the action is chosen by comparing values - a comparison, not a differentiable computation. Path A does not exist. That is why the paper only ever needed to worry about path B.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CONTINUOUS control the network emits the action directly. Path A opens, and Q-maximization starts destroying the exploration mechanism as a side effect.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1 - Close path 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policy loss through the mean-only forward pass, so σ leaves that computation entirely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18300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59536" y="1536192"/>
            <a:ext cx="45213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change, in three lines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59536" y="1938528"/>
            <a:ext cx="4521342" cy="868680"/>
          </a:xfrm>
          <a:prstGeom prst="roundRect">
            <a:avLst>
              <a:gd name="adj" fmla="val 4211"/>
            </a:avLst>
          </a:prstGeom>
          <a:solidFill>
            <a:srgbClr val="F0F3FA"/>
          </a:solidFill>
          <a:ln w="12700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987552" y="2048256"/>
            <a:ext cx="419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actor.eval()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policy_loss = -critic(s, actor(s)).mean()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actor.train()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9536" y="2907792"/>
            <a:ext cx="452134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eval() flips one internal flag. The noisy layer then computes weight = μ instead of μ + σ·ε.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is not merely small in this computation - it is absent from it, so backpropagation finds no path to follow.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1037" y="1371600"/>
            <a:ext cx="5403555" cy="2514600"/>
          </a:xfrm>
          <a:prstGeom prst="roundRect">
            <a:avLst>
              <a:gd name="adj" fmla="val 2182"/>
            </a:avLst>
          </a:prstGeom>
          <a:solidFill>
            <a:srgbClr val="F2F8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6483645" y="1536192"/>
            <a:ext cx="4741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directly, not assumed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83645" y="1901952"/>
            <a:ext cx="4741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zeroed the penalty weight so only the policy term was active, then measured the gradient norm arriving at the output-layer σ: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65357" y="2487168"/>
            <a:ext cx="22055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0.234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65357" y="3127248"/>
            <a:ext cx="2205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11996" y="2487168"/>
            <a:ext cx="22055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111996" y="3127248"/>
            <a:ext cx="22055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83645" y="3456432"/>
            <a:ext cx="4741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zero - the path is severed, not weakened.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114800"/>
            <a:ext cx="11027664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886968" y="4261104"/>
            <a:ext cx="10387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that leaves the two paths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86968" y="4645152"/>
            <a:ext cx="10387584" cy="548640"/>
          </a:xfrm>
          <a:prstGeom prst="roundRect">
            <a:avLst>
              <a:gd name="adj" fmla="val 8333"/>
            </a:avLst>
          </a:prstGeom>
          <a:solidFill>
            <a:srgbClr val="F3F5F8"/>
          </a:solidFill>
          <a:ln w="12700">
            <a:solidFill>
              <a:srgbClr val="DDE4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1069848" y="4645152"/>
            <a:ext cx="1002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  </a:t>
            </a:r>
            <a:r>
              <a:rPr lang="en-US" sz="1400" strike="sngStrike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→ weight → action → critic value → loss</a:t>
            </a: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severed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6968" y="5266944"/>
            <a:ext cx="10387584" cy="548640"/>
          </a:xfrm>
          <a:prstGeom prst="roundRect">
            <a:avLst>
              <a:gd name="adj" fmla="val 8333"/>
            </a:avLst>
          </a:prstGeom>
          <a:solidFill>
            <a:srgbClr val="FDF6EA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2" name="Text 20"/>
          <p:cNvSpPr/>
          <p:nvPr/>
        </p:nvSpPr>
        <p:spPr>
          <a:xfrm>
            <a:off x="1069848" y="5266944"/>
            <a:ext cx="1002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  </a:t>
            </a: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→ loss</a:t>
            </a:r>
            <a:r>
              <a:rPr lang="en-US" sz="1400" b="1" dirty="0">
                <a:solidFill>
                  <a:srgbClr val="B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untouched - the penalty reads σ directly, and nothing we did here affects that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CityLearn</a:t>
            </a: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a dense-reward tie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buildings, 5-D continuous action, 44-D state, 150 episodes x 3 seeds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27664" cy="160934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DDPG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-3805.2 ± 20.0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-3118.2 ± 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NROWAN-DDPG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-3781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-3127.3 ± 11.8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NROWAN-DDPG isolated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-3779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-3130.9 ± 14.1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338328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+687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402336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improvement, all three methods alike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242816" y="338328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7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242816" y="402336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best and worst - under 2% of the improvement</a:t>
            </a:r>
            <a:endParaRPr lang="en-US" sz="1150" dirty="0"/>
          </a:p>
        </p:txBody>
      </p:sp>
      <p:sp>
        <p:nvSpPr>
          <p:cNvPr id="4" name="Text 6"/>
          <p:cNvSpPr/>
          <p:nvPr/>
        </p:nvSpPr>
        <p:spPr>
          <a:xfrm>
            <a:off x="7918704" y="3383280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918704" y="402336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σ ended up, in BOTH noisy variants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4709160"/>
            <a:ext cx="11027664" cy="1371600"/>
          </a:xfrm>
          <a:prstGeom prst="roundRect">
            <a:avLst>
              <a:gd name="adj" fmla="val 4000"/>
            </a:avLst>
          </a:prstGeom>
          <a:solidFill>
            <a:srgbClr val="FFF6E8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" name="Text 9"/>
          <p:cNvSpPr/>
          <p:nvPr/>
        </p:nvSpPr>
        <p:spPr>
          <a:xfrm>
            <a:off x="886968" y="4892040"/>
            <a:ext cx="103875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 </a:t>
            </a: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learn equally well, and the differences are the size of the standard deviations themselves. Note also that the plain baseline has the LOWEST variance of the three - </a:t>
            </a:r>
            <a:r>
              <a:rPr lang="en-US" sz="14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noise adds instability without adding performance</a:t>
            </a: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 feedback at every timestep, exploration was never the bottleneck.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MountainCar</a:t>
            </a: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The only task the baseline cannot solve at 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sparse reward, 500 episodes x 3 seeds, no reward shaping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7667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41248" y="1645920"/>
            <a:ext cx="4852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 is paralysed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" y="2084832"/>
            <a:ext cx="48521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95528" y="2724912"/>
            <a:ext cx="4852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solved by Vanilla DDPG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3035808"/>
            <a:ext cx="4852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of exactly -0.0: every action costs, the goal is never reached, so “do not move” is the profitable policy. A documented trap of this environment.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76672" cy="2103120"/>
          </a:xfrm>
          <a:prstGeom prst="roundRect">
            <a:avLst>
              <a:gd name="adj" fmla="val 2609"/>
            </a:avLst>
          </a:prstGeom>
          <a:solidFill>
            <a:srgbClr val="F2F8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6492240" y="1645920"/>
            <a:ext cx="48521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Ours escapes 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46520" y="2084832"/>
            <a:ext cx="48521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6520" y="2724912"/>
            <a:ext cx="48521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solved - 33.3% ± 47.1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035808"/>
            <a:ext cx="4852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that solved did not merely reach the goal; it converged to a 69-step route and repeated it every episode.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49040"/>
            <a:ext cx="11027664" cy="1143000"/>
          </a:xfrm>
          <a:prstGeom prst="roundRect">
            <a:avLst>
              <a:gd name="adj" fmla="val 4800"/>
            </a:avLst>
          </a:prstGeom>
          <a:solidFill>
            <a:srgbClr val="FFFB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5" name="Text 13"/>
          <p:cNvSpPr/>
          <p:nvPr/>
        </p:nvSpPr>
        <p:spPr>
          <a:xfrm>
            <a:off x="886968" y="3931920"/>
            <a:ext cx="1038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detail that will matter in a moment:  </a:t>
            </a: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that SOLVED is the one whose σ collapsed to zero. The two seeds that kept their noise at full strength both failed.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5074920"/>
            <a:ext cx="11027664" cy="1005840"/>
          </a:xfrm>
          <a:prstGeom prst="roundRect">
            <a:avLst>
              <a:gd name="adj" fmla="val 5455"/>
            </a:avLst>
          </a:prstGeom>
          <a:solidFill>
            <a:srgbClr val="F7F7F9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Text 15"/>
          <p:cNvSpPr/>
          <p:nvPr/>
        </p:nvSpPr>
        <p:spPr>
          <a:xfrm>
            <a:off x="886968" y="5230368"/>
            <a:ext cx="10387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reading:  </a:t>
            </a:r>
            <a:r>
              <a:rPr lang="en-US" sz="13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success in three seeds, with a standard deviation larger than the mean, is suggestive - not conclusive. We also did not run the non-isolated variant under identical settings, so we cannot yet attribute the win to gradient isolation specifically.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PointMaze</a:t>
            </a: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sparse navigation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8×8 maze of corridors and dead ends. 200 episodes × 3 seeds, 600-step cap, fair baseline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2766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86968" y="1517904"/>
            <a:ext cx="10387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 </a:t>
            </a: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mass must reach a fixed goal. Reward arrives only on arrival - until then, no signal at all. Reaching the goal requires committing to a multi-turn route, and in places moving away from the goal to get around a wall.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66928" y="2423160"/>
          <a:ext cx="11027664" cy="168249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 to goal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DDPG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 ± 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529.0 ± 16.9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NROWAN-DDPG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 ± 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526.5 ± 34.2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NROWAN-DDPG isolated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 ± 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499.1 ± 18.1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251960"/>
            <a:ext cx="5403555" cy="1737360"/>
          </a:xfrm>
          <a:prstGeom prst="roundRect">
            <a:avLst>
              <a:gd name="adj" fmla="val 3158"/>
            </a:avLst>
          </a:prstGeom>
          <a:solidFill>
            <a:srgbClr val="F2F8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859536" y="4407408"/>
            <a:ext cx="4741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right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59536" y="4773168"/>
            <a:ext cx="4741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isolated variant scored highest, with the lowest variance and the shortest routes.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other methods are indistinguishable from one another - closing path A is the only difference that moved anything.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1037" y="4251960"/>
            <a:ext cx="5403555" cy="1737360"/>
          </a:xfrm>
          <a:prstGeom prst="roundRect">
            <a:avLst>
              <a:gd name="adj" fmla="val 3158"/>
            </a:avLst>
          </a:prstGeom>
          <a:solidFill>
            <a:srgbClr val="FDF6EA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Text 8"/>
          <p:cNvSpPr/>
          <p:nvPr/>
        </p:nvSpPr>
        <p:spPr>
          <a:xfrm>
            <a:off x="6483645" y="4407408"/>
            <a:ext cx="4741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8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look at the last column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83645" y="4773168"/>
            <a:ext cx="4741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reached zero within 20 episodes of 200 in every variant - including the isolated one.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therefore ran without any learned noise for over 90% of training. Path B alone was enough to destroy it.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610819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three seeds these ranges overlap, so we report the isolated variant as nominally best rather than as a confirmed winner.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2 - Why path B is so lethal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penalty's gradient is tiny. The optimizer makes that irrelevant.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844662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59536" y="1572768"/>
            <a:ext cx="51830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normalizes every gradient by its own magnitude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" y="2194560"/>
          <a:ext cx="5897880" cy="1097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SGD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9536" y="3383280"/>
            <a:ext cx="51830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cancels out; only the direction survives. And D's gradient always points the same way - down.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2696" y="1444752"/>
            <a:ext cx="4741896" cy="2423160"/>
          </a:xfrm>
          <a:prstGeom prst="roundRect">
            <a:avLst>
              <a:gd name="adj" fmla="val 2264"/>
            </a:avLst>
          </a:prstGeom>
          <a:solidFill>
            <a:srgbClr val="FDF3F2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Text 6"/>
          <p:cNvSpPr/>
          <p:nvPr/>
        </p:nvSpPr>
        <p:spPr>
          <a:xfrm>
            <a:off x="7145304" y="1572768"/>
            <a:ext cx="4080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arithmetic of the collapse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45304" y="2011680"/>
            <a:ext cx="40802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0.0442  ÷  0.0001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145304" y="2395728"/>
            <a:ext cx="4080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σ            step size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973763" y="2656332"/>
            <a:ext cx="430078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440</a:t>
            </a:r>
            <a:endParaRPr lang="en-US" sz="4000" dirty="0"/>
          </a:p>
        </p:txBody>
      </p:sp>
      <p:sp>
        <p:nvSpPr>
          <p:cNvPr id="6" name="Text 10"/>
          <p:cNvSpPr/>
          <p:nvPr/>
        </p:nvSpPr>
        <p:spPr>
          <a:xfrm>
            <a:off x="7031675" y="3191256"/>
            <a:ext cx="43007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to zero - less than ONE episode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183526" y="3511296"/>
            <a:ext cx="40802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this holds for ANY positive k, however small. Only exactly zero stops it.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66928" y="4023360"/>
            <a:ext cx="11027664" cy="2057400"/>
          </a:xfrm>
          <a:prstGeom prst="roundRect">
            <a:avLst>
              <a:gd name="adj" fmla="val 2667"/>
            </a:avLst>
          </a:prstGeom>
          <a:solidFill>
            <a:srgbClr val="F2F8F4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6" name="Text 13"/>
          <p:cNvSpPr/>
          <p:nvPr/>
        </p:nvSpPr>
        <p:spPr>
          <a:xfrm>
            <a:off x="886968" y="4187952"/>
            <a:ext cx="10387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fix: give σ its own non-normalizing optimizer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86968" y="4553712"/>
            <a:ext cx="1038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and every other parameter keep Adam. σ alone moves by learning-rate × gradient, so its decay becomes proportional to k again - the gradual, competence-gated annealing the paper intended.</a:t>
            </a:r>
            <a:endParaRPr lang="en-US" sz="13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6968" y="5074920"/>
          <a:ext cx="11027664" cy="987552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after 600 updates at full penalty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(original)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0.04419  →  0.00001      (dead)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optimizer (ours)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0.04419  →  0.04408      (preserved)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decisive experiment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changed: does preserving the exploration noise help?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27664" cy="21031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8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PointMaze variant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DDPG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 ± 4.2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NROWAN-DDPG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  (dead by ep. 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 ± 6.8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 isolated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  (dead by ep. 20)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20.0% ± 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F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NROWAN isolated + optimizer 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0.0842  (preserved)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 ± 2.7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657600"/>
            <a:ext cx="11027664" cy="1234440"/>
          </a:xfrm>
          <a:prstGeom prst="roundRect">
            <a:avLst>
              <a:gd name="adj" fmla="val 4444"/>
            </a:avLst>
          </a:prstGeom>
          <a:solidFill>
            <a:srgbClr val="FDF3F2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6" name="Text 3"/>
          <p:cNvSpPr/>
          <p:nvPr/>
        </p:nvSpPr>
        <p:spPr>
          <a:xfrm>
            <a:off x="886968" y="3822192"/>
            <a:ext cx="1038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 was preserved almost perfectly - and performance went DOWN.  </a:t>
            </a: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exploration explanation for the isolated variant's advantage is therefore ruled out: we preserved exploration far better here and did worse.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5074920"/>
            <a:ext cx="11027664" cy="1005840"/>
          </a:xfrm>
          <a:prstGeom prst="roundRect">
            <a:avLst>
              <a:gd name="adj" fmla="val 5455"/>
            </a:avLst>
          </a:prstGeom>
          <a:solidFill>
            <a:srgbClr val="FFF6E8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5"/>
          <p:cNvSpPr/>
          <p:nvPr/>
        </p:nvSpPr>
        <p:spPr>
          <a:xfrm>
            <a:off x="886968" y="5230368"/>
            <a:ext cx="1038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inversion worth stating:  </a:t>
            </a:r>
            <a:r>
              <a:rPr lang="en-US" sz="1400" dirty="0">
                <a:solidFill>
                  <a:srgbClr val="1A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continuous control the learned parameter noise is a liability, not an asset. The paper's penalty - which destroys that noise quickly - is doing useful work here, but for the opposite reason to the one it was designed for.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384048" cy="384048"/>
          </a:xfrm>
          <a:prstGeom prst="ellipse">
            <a:avLst/>
          </a:prstGeom>
          <a:solidFill>
            <a:srgbClr val="4A6FD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33856" y="1261872"/>
            <a:ext cx="10387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mechanism reproduces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33856" y="1591056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its native discrete setting we recovered the paper's exact rank order, its stability claim, and even its reported anomaly.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33856" y="2249424"/>
            <a:ext cx="10387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transfer fails - and we know why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33856" y="2578608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continuous control the policy gradient reaches σ and suppresses it. In discrete control that path does not exist, which is why the paper never had to account for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273552"/>
            <a:ext cx="384048" cy="384048"/>
          </a:xfrm>
          <a:prstGeom prst="ellipse">
            <a:avLst/>
          </a:prstGeom>
          <a:solidFill>
            <a:srgbClr val="C88A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2" name="Text 10"/>
          <p:cNvSpPr/>
          <p:nvPr/>
        </p:nvSpPr>
        <p:spPr>
          <a:xfrm>
            <a:off x="566928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3856" y="3236976"/>
            <a:ext cx="10387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annealing mechanism is fragile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33856" y="356616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an adaptive optimizer, the noise-reduction penalty zeroes σ in under one episode, whatever the online weight. We measured it and fixed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261104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66928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3856" y="4224528"/>
            <a:ext cx="10387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Preserving the noise makes things worse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33856" y="4553712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controlled experiment shows exploration was never the source of the advantage. In these environments the learned noise is a liability.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24865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0" name="Text 18"/>
          <p:cNvSpPr/>
          <p:nvPr/>
        </p:nvSpPr>
        <p:spPr>
          <a:xfrm>
            <a:off x="566928" y="5248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33856" y="5212080"/>
            <a:ext cx="10387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algorithm to the reward structure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33856" y="5541264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density, not action-space continuity, decides whether an exploration mechanism can help at all.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27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 not establish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boundaries of these claims, stated plainly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2766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252728" y="15544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seeds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90288" y="1536192"/>
            <a:ext cx="6638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continuous result rests on three seeds. Where standard deviations overlap - PointMaze, </a:t>
            </a:r>
            <a:r>
              <a:rPr lang="en-US" sz="12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CityLearn</a:t>
            </a: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we report a tie rather than a winner.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102766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822960" y="2670048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252728" y="24871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missing control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90288" y="2468880"/>
            <a:ext cx="6638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run the non-isolated variant on sparse MountainCar under identical settings, so the win there cannot be attributed to gradient isolation specifically.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328416"/>
            <a:ext cx="1102766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" name="Shape 11"/>
          <p:cNvSpPr/>
          <p:nvPr/>
        </p:nvSpPr>
        <p:spPr>
          <a:xfrm>
            <a:off x="822960" y="3602736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252728" y="34198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Superseded results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90288" y="3401568"/>
            <a:ext cx="6638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grid2op agent scores predate a correctness fix and are excluded. The do-nothing reference, which never invokes the agent, is unaffected and is reported.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11027664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5"/>
            </a:solidFill>
            <a:prstDash val="solid"/>
          </a:ln>
          <a:effectLst>
            <a:outerShdw blurRad="101600" dist="25400" dir="5400000" algn="bl" rotWithShape="0">
              <a:srgbClr val="9FB0CC">
                <a:alpha val="25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7" name="Shape 15"/>
          <p:cNvSpPr/>
          <p:nvPr/>
        </p:nvSpPr>
        <p:spPr>
          <a:xfrm>
            <a:off x="822960" y="4535424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252728" y="43525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1A1F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 of the isolated variant's edge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90288" y="4334256"/>
            <a:ext cx="6638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gradient variance is the plausible explanation, but with three seeds we cannot separate it from chance, and we do not claim causality.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A3A73"/>
          </a:solidFill>
          <a:ln w="12700">
            <a:solidFill>
              <a:srgbClr val="2A3A73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66928" y="2103120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042984" y="26517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full experiment logs: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https://github.com/Yoni2222/nrowan-ddpg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3159</Words>
  <Application>Microsoft Office PowerPoint</Application>
  <PresentationFormat>מסך רחב</PresentationFormat>
  <Paragraphs>345</Paragraphs>
  <Slides>18</Slides>
  <Notes>18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5" baseType="lpstr">
      <vt:lpstr>Anthropic Sans</vt:lpstr>
      <vt:lpstr>Aptos</vt:lpstr>
      <vt:lpstr>Arial</vt:lpstr>
      <vt:lpstr>Calibri</vt:lpstr>
      <vt:lpstr>Cambria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Silencing the Noise</dc:title>
  <dc:subject>PptxGenJS Presentation</dc:subject>
  <dc:creator>Baruch &amp; Jonathan</dc:creator>
  <cp:lastModifiedBy>Yonatan Ben Avraham</cp:lastModifiedBy>
  <cp:revision>48</cp:revision>
  <dcterms:created xsi:type="dcterms:W3CDTF">2026-07-31T13:22:49Z</dcterms:created>
  <dcterms:modified xsi:type="dcterms:W3CDTF">2026-07-31T18:07:22Z</dcterms:modified>
</cp:coreProperties>
</file>